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FundiLink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CFE0E8"/>
                </a:solidFill>
                <a:latin typeface="Arial"/>
              </a:rPr>
              <a:t>An AI-assisted, location-based mobile marketplace connecting Ugandans to trusted local artisans (Fundis)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Project Defence  •  (Your Name)  •  Supervisor: (Name)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FB4C4"/>
                </a:solidFill>
                <a:latin typeface="Arial"/>
              </a:rPr>
              <a:t>Course / Department   | 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Introduction &amp;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630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002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002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459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Conceptual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0632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004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461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0632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2004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461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Core Algorithms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0632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2004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461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Implementation &amp; Tech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6634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006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63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Demonstration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6634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8006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8463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6634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8463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26364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64008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6B6B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44652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 | Introduction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Ugandans struggle to find reliable artisans —** plumbers, electricians, carpenters, masons.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>
                <a:solidFill>
                  <a:srgbClr val="555F6E"/>
                </a:solidFill>
                <a:latin typeface="Arial"/>
              </a:rPr>
              <a:t>•  Word-of-mouth is slow, unverifiable, and geographically limited.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>
                <a:solidFill>
                  <a:srgbClr val="555F6E"/>
                </a:solidFill>
                <a:latin typeface="Arial"/>
              </a:rPr>
              <a:t>•  No way to compare reviews, quotes, proximity, or track a job once started.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>
                <a:solidFill>
                  <a:srgbClr val="555F6E"/>
                </a:solidFill>
                <a:latin typeface="Arial"/>
              </a:rPr>
              <a:t>•  Wasted time, unpredictable costs, no accountability, no trust history.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Aim:** a transparent, digital bridge between customers and verified fundis.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 |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Develop FundiLink: a mobile platform connecting customers to verified, nearby fundis with transparent quotes and reviews.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457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50592"/>
            <a:ext cx="98142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Arial"/>
              </a:rPr>
              <a:t>Build a cross-platform mobile app (React Native / Expo).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90672"/>
            <a:ext cx="457200" cy="4572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72384"/>
            <a:ext cx="98142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Arial"/>
              </a:rPr>
              <a:t>Design a REST API backend (Node.js / Express) with secure auth (JWT + OTP).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12464"/>
            <a:ext cx="457200" cy="4572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94176"/>
            <a:ext cx="98142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Arial"/>
              </a:rPr>
              <a:t>Give customers a ranked, map-based browser to discover nearby fundis (customer keeps the choice).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34256"/>
            <a:ext cx="457200" cy="4572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15968"/>
            <a:ext cx="98142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Arial"/>
              </a:rPr>
              <a:t>Support the full job lifecycle: quote → accept → work → complete →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56048"/>
            <a:ext cx="457200" cy="4572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74336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37760"/>
            <a:ext cx="98142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Arial"/>
              </a:rPr>
              <a:t>Maintain a trust layer whose reviews feed back into discovery rankings.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577840"/>
            <a:ext cx="457200" cy="4572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96128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559552"/>
            <a:ext cx="98142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Arial"/>
              </a:rPr>
              <a:t>(Assist) Lightweight AI assistant that guides unsure users to the right trade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3a | Conceptual Framework — Core Discovery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0F6B6B"/>
                </a:solidFill>
                <a:latin typeface="Arial"/>
              </a:rPr>
              <a:t>Browsing first: the customer always drives the choice — AI and ranking are aids, never decision-makers.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58368" cy="658368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4480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Customer sets location → app shows nearby fundi 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78608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78608"/>
            <a:ext cx="658368" cy="658368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4480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Customer picks a category (Plumber / Electrician / Carpenter / Painter) or searches / filters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28415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28415"/>
            <a:ext cx="658368" cy="658368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28415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28415"/>
            <a:ext cx="4480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System shows nearby fundis, ranked by Score = 0.6·Rating + 0.4·Proximity (map + list)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78224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78224"/>
            <a:ext cx="658368" cy="658368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78224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78224"/>
            <a:ext cx="4480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Customer compares profiles (rating, reviews, distance, verified) and picks 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28031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828031"/>
            <a:ext cx="658368" cy="658368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28031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28031"/>
            <a:ext cx="4480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Job created for the chosen fundi → quote → accept → in-progress → 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577840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577840"/>
            <a:ext cx="658368" cy="658368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77840"/>
            <a:ext cx="4480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Both parties review → rating feeds back into 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Role of AI (supporting only)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240280"/>
            <a:ext cx="50749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377440"/>
            <a:ext cx="4709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AI is a concierge, not a dispatcher.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• Identifies the trade from a description or photo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• Points the user to the right Browse category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• Browsing always takes over from there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It never selects the fundi and is not the main discovery path.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343400"/>
            <a:ext cx="5074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343400"/>
            <a:ext cx="4709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Actors:  Customer (browses &amp; picks) · Fundi (quotes &amp; works) · System (ranks, brokers, records trust)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044184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2A3F"/>
                </a:solidFill>
                <a:latin typeface="Arial"/>
              </a:rPr>
              <a:t>The engine ranks; the customer chooses. AI helps find the right category — it never decides the fundi.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3b | Conceptual Framework — Rank, Choose,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0F6B6B"/>
                </a:solidFill>
                <a:latin typeface="Arial"/>
              </a:rPr>
              <a:t>Three interlocking sub-models power the Closed-Loop marketplace.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01568" cy="16916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2944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Discovery &amp;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29443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2F0EE"/>
                </a:solidFill>
                <a:latin typeface="Arial"/>
              </a:rPr>
              <a:t>Orders the browse list; ranking aid only, never assigns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340156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03580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Arial"/>
              </a:rPr>
              <a:t>Inputs:  Category · location · fundi rating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828800"/>
            <a:ext cx="3401568" cy="16916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938528"/>
            <a:ext cx="2944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395728"/>
            <a:ext cx="29443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2F0EE"/>
                </a:solidFill>
                <a:latin typeface="Arial"/>
              </a:rPr>
              <a:t>Manages the job once the customer picks a fundi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3520440"/>
            <a:ext cx="340156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3520440"/>
            <a:ext cx="303580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Arial"/>
              </a:rPr>
              <a:t>Inputs:  Job state · quote · acceptance · completion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3401568" cy="16916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938528"/>
            <a:ext cx="2944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395728"/>
            <a:ext cx="29443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2F0EE"/>
                </a:solidFill>
                <a:latin typeface="Arial"/>
              </a:rPr>
              <a:t>Builds reputation history between jobs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3520440"/>
            <a:ext cx="340156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3520440"/>
            <a:ext cx="303580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Arial"/>
              </a:rPr>
              <a:t>Inputs:  Reviews · ratings · completed jobs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10744200" cy="658368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80560"/>
            <a:ext cx="10515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Score = 0.6 × Rating  +  0.4 × Proximity     (rating 0–5; proximity normalised so closer = higher)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2A3F"/>
                </a:solidFill>
                <a:latin typeface="Arial"/>
              </a:rPr>
              <a:t>Closed feedback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744200" cy="5029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142A3F"/>
                </a:solidFill>
                <a:latin typeface="Arial"/>
              </a:rPr>
              <a:t>Review → Ranking Score → Better Position in Browse List → Chosen &amp; Completed → New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 | System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4572000"/>
              </a:tblGrid>
              <a:tr h="96012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T="76200" marB="76200" anchor="ctr">
                    <a:solidFill>
                      <a:srgbClr val="14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T="76200" marB="76200" anchor="ctr">
                    <a:solidFill>
                      <a:srgbClr val="14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lives there</a:t>
                      </a:r>
                    </a:p>
                  </a:txBody>
                  <a:tcPr marT="76200" marB="76200" anchor="ctr">
                    <a:solidFill>
                      <a:srgbClr val="142A3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A3F"/>
                          </a:solidFill>
                        </a:rPr>
                        <a:t>Presentation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F6E"/>
                          </a:solidFill>
                        </a:rPr>
                        <a:t>React Native (Expo) mobile app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F6E"/>
                          </a:solidFill>
                        </a:rPr>
                        <a:t>Customer &amp; fundi screens, maps, chat, reviews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A3F"/>
                          </a:solidFill>
                        </a:rPr>
                        <a:t>Application / API</a:t>
                      </a:r>
                    </a:p>
                  </a:txBody>
                  <a:tcPr marT="76200" marB="76200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F6E"/>
                          </a:solidFill>
                        </a:rPr>
                        <a:t>Node.js + Express (MVC)</a:t>
                      </a:r>
                    </a:p>
                  </a:txBody>
                  <a:tcPr marT="76200" marB="76200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F6E"/>
                          </a:solidFill>
                        </a:rPr>
                        <a:t>Auth, jobs, bookings, wallets, geocoding, middlewares</a:t>
                      </a:r>
                    </a:p>
                  </a:txBody>
                  <a:tcPr marT="76200" marB="76200" anchor="ctr">
                    <a:solidFill>
                      <a:srgbClr val="F2F6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A3F"/>
                          </a:solidFill>
                        </a:rPr>
                        <a:t>Data &amp; Services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F6E"/>
                          </a:solidFill>
                        </a:rPr>
                        <a:t>MongoDB · Google Maps · EgoSMS · AI classifier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55F6E"/>
                          </a:solidFill>
                        </a:rPr>
                        <a:t>Users, jobs, reviews, wallets · location · SMS/OTP · NLP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692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55F6E"/>
                </a:solidFill>
                <a:latin typeface="Arial"/>
              </a:rPr>
              <a:t>Monorepo:  backend/  (MVC)   ·   mobile/  (app)   ·   web/   —  deployed on Render + EAS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 | Core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Recommendation / Ranking Engine**
	Score = 0.6 × Rating + 0.4 × Proximity
	Rating (0–5) · Proximity (distance normalised to 0–5, closer = higher)
	Ranks the browse list; returns Top 5 (customer still chooses).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AI / NLP Assistant (supporting role)**
	Problem described or photo uploaded → bot identifies the trade (sink/leak → plumbing; socket/wire → electrical)
	Then guides the user to Browse → that category; browsing takes over. Never selects a fundi.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Geospatial Routing**
	Haversine distance + Google Geocoding for address ↔ coordinates, routes and ETA.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 | Implementation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13716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React Native + Expo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Cross-platform mobile, fast iteration, OTA updates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109728" cy="13716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Node.js + Express (MVC)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Lightweight async backend with a clean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324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109728" cy="13716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00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Flexible schema for users, jobs, reviews, wallets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06324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063240"/>
            <a:ext cx="109728" cy="13716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JWT + OTP (EgoSMS)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Secure sessions and local phone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109728" cy="13716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006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react-native-maps + 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035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Nearby fundis, address ↔ coordinates, routes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663440"/>
            <a:ext cx="51206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663440"/>
            <a:ext cx="109728" cy="137160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42A3F"/>
                </a:solidFill>
                <a:latin typeface="Arial"/>
              </a:rPr>
              <a:t>AI support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035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Concierge only — guides unsure users to the right trade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0F6B6B"/>
                </a:solidFill>
                <a:latin typeface="Arial"/>
              </a:rPr>
              <a:t>Key REST APIs: auth (register/login/OTP) · maps (geocode/reverse/nearby/route) · users · fundis · jobs · support assistant · reviews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 |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1.** Register / login via OTP (EgoSMS); set location → nearby count.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2.** Pick a category tile (e.g. Plumber) → ranked map/list with search + filters (available, verified, ≤5 km, ★4.5+).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3.** (Optional assist) Ask the assistant “my sink is leaking” → guides to Browse → Plumber.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4.** Customer browses profiles &amp; picks a plumber → job → fundi quotes → customer accepts.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5.** Job progresses to completion; both parties review.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6.** Fundi’s rating updates → improves position next time (feedback loop).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8 |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2377440" cy="7772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780257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55F6E"/>
                </a:solidFill>
                <a:latin typeface="Arial"/>
              </a:rPr>
              <a:t>Classifier accuracy, recommendation-score ordering, OTP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2377440" cy="7772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API /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14600"/>
            <a:ext cx="780257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55F6E"/>
                </a:solidFill>
                <a:latin typeface="Arial"/>
              </a:rPr>
              <a:t>End-to-end tests for all REST endpoints (Postman + scripts)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74720"/>
            <a:ext cx="2377440" cy="7772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474720"/>
            <a:ext cx="780257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55F6E"/>
                </a:solidFill>
                <a:latin typeface="Arial"/>
              </a:rPr>
              <a:t>Manual device tests on Android, Expo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34840"/>
            <a:ext cx="2377440" cy="7772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34840"/>
            <a:ext cx="780257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55F6E"/>
                </a:solidFill>
                <a:latin typeface="Arial"/>
              </a:rPr>
              <a:t>Register → find → quote → complete → review happy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94960"/>
            <a:ext cx="2377440" cy="777240"/>
          </a:xfrm>
          <a:prstGeom prst="rect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Edge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394960"/>
            <a:ext cx="780257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555F6E"/>
                </a:solidFill>
                <a:latin typeface="Arial"/>
              </a:rPr>
              <a:t>Low-confidence classification, no fundis in radius, expired OTP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Arial"/>
              </a:rPr>
              <a:t>Seed data included (e.g. amina@example.com / peter@fundi.com).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9 | 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E8A82C"/>
                </a:solidFill>
                <a:latin typeface="Arial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>
                <a:solidFill>
                  <a:srgbClr val="555F6E"/>
                </a:solidFill>
                <a:latin typeface="Arial"/>
              </a:rPr>
              <a:t>•  Rule-based classifier may misclassify unusual phrasing.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>
                <a:solidFill>
                  <a:srgbClr val="555F6E"/>
                </a:solidFill>
                <a:latin typeface="Arial"/>
              </a:rPr>
              <a:t>•  Prototype scope: single currency, limited categories.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>
                <a:solidFill>
                  <a:srgbClr val="555F6E"/>
                </a:solidFill>
                <a:latin typeface="Arial"/>
              </a:rPr>
              <a:t>•  Trust depends on motivated users posting reviews.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0F6B6B"/>
                </a:solidFill>
                <a:latin typeface="Arial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>
                <a:solidFill>
                  <a:srgbClr val="555F6E"/>
                </a:solidFill>
                <a:latin typeface="Arial"/>
              </a:rPr>
              <a:t>•  Fine-tuned / LLM classifier; multi-language (Luganda, Swahili).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>
                <a:solidFill>
                  <a:srgbClr val="555F6E"/>
                </a:solidFill>
                <a:latin typeface="Arial"/>
              </a:rPr>
              <a:t>•  In-app escrow + real mobile money (MTN MoMo, Airtel Money).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>
                <a:solidFill>
                  <a:srgbClr val="555F6E"/>
                </a:solidFill>
                <a:latin typeface="Arial"/>
              </a:rPr>
              <a:t>•  More categories; fundi credential &amp; background verification.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>
                <a:solidFill>
                  <a:srgbClr val="555F6E"/>
                </a:solidFill>
                <a:latin typeface="Arial"/>
              </a:rPr>
              <a:t>•  Offline mode, admin analytics dashboard, recency-weighted ratings.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944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10 |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>
                <a:solidFill>
                  <a:srgbClr val="555F6E"/>
                </a:solidFill>
                <a:latin typeface="Arial"/>
              </a:rPr>
              <a:t>•  FundiLink validates the concept end-to-end: an AI-assisted, location-based, trust-driven marketplace for artisan services.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>
                <a:solidFill>
                  <a:srgbClr val="555F6E"/>
                </a:solidFill>
                <a:latin typeface="Arial"/>
              </a:rPr>
              <a:t>•  The closed-loop framework works: **better reviews → better rankings → better outcomes.**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>
                <a:solidFill>
                  <a:srgbClr val="555F6E"/>
                </a:solidFill>
                <a:latin typeface="Arial"/>
              </a:rPr>
              <a:t>•  Architecture + APIs + app provide a solid foundation for a production marketplace in Uganda.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42A3F"/>
                </a:solidFill>
                <a:latin typeface="Arial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